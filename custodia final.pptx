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3" d="100"/>
          <a:sy n="143" d="100"/>
        </p:scale>
        <p:origin x="76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550815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Interview proposal. One-line framing: this is the consolidation layer that turns two different banks' feeds into a single reconciled view. Three companion documents already exist: requirements analysis, logical schema, architecture README.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up the pain before the solution. The 'no shared key' point is the crux — it's why an identity crosswalk is central to the whole design.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load-bearing scope choices. The third — extensibility — is the one that should land hardest for a multi-bank firm.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Allocare is deep and integrated; BJB is operational extracts split across three formats and channels. BJB ships no security master — another reason Allocare stays the reference source.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Top-to-bottom principle: each bank's data stays native as long as possible, is conformed exactly once, and overlapping figures are reconciled — never merged blindly. Next two slides zoom into Layers 2 and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that sells the architecture to a multi-bank firm. The parsers are interchangeable; the expensive shared logic is written once.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cross-cutting band is the clever part — crosswalks, harmonised codes, reconciliation, lineage. The full 28-table schema is in design/schema.md.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choices to defend verbally. The honest weak spot to volunteer: instruments with no ISIN won't auto-match across banks — they go to the exception queue for manual linking.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phase ships something usable on its own. Phase 1 proves the schema on real data before a second source; Phase 2 validates the whole multi-bank premise; Phase 5 proves the adapter pattern.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route and layout — they gate Phase 2. The 28 June date is the one external constraint that can block progress regardless of how fast the build goes.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4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3611880"/>
            <a:ext cx="2377440" cy="182880"/>
          </a:xfrm>
          <a:prstGeom prst="roundRect">
            <a:avLst>
              <a:gd name="adj" fmla="val 25000"/>
            </a:avLst>
          </a:prstGeom>
          <a:solidFill>
            <a:srgbClr val="0F6E56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309360" y="3886200"/>
            <a:ext cx="2377440" cy="182880"/>
          </a:xfrm>
          <a:prstGeom prst="roundRect">
            <a:avLst>
              <a:gd name="adj" fmla="val 25000"/>
            </a:avLst>
          </a:prstGeom>
          <a:solidFill>
            <a:srgbClr val="0F6E56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309360" y="4160520"/>
            <a:ext cx="2377440" cy="182880"/>
          </a:xfrm>
          <a:prstGeom prst="roundRect">
            <a:avLst>
              <a:gd name="adj" fmla="val 25000"/>
            </a:avLst>
          </a:prstGeom>
          <a:solidFill>
            <a:srgbClr val="1D9E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309360" y="4434840"/>
            <a:ext cx="2377440" cy="182880"/>
          </a:xfrm>
          <a:prstGeom prst="roundRect">
            <a:avLst>
              <a:gd name="adj" fmla="val 25000"/>
            </a:avLst>
          </a:prstGeom>
          <a:solidFill>
            <a:srgbClr val="0F6E56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0515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FE9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PROPOSAL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1188720"/>
            <a:ext cx="7955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Multi-Custodian</a:t>
            </a:r>
            <a:r>
              <a:rPr lang="en-US" sz="4400" dirty="0"/>
              <a:t> </a:t>
            </a: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640080" y="27203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CFE9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reconciled view across Corner and Julius Baer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0080" y="452628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Edoardo Pierluigi Leali</a:t>
            </a:r>
            <a:r>
              <a:rPr lang="en-US" sz="1200" dirty="0">
                <a:solidFill>
                  <a:srgbClr val="9F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493776" cy="493776"/>
          </a:xfrm>
          <a:prstGeom prst="ellipse">
            <a:avLst/>
          </a:prstGeom>
          <a:solidFill>
            <a:srgbClr val="0F6E5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25196"/>
            <a:ext cx="265176" cy="2651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274320"/>
            <a:ext cx="7589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097280" y="45720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bank, a different feed</a:t>
            </a:r>
            <a:endParaRPr lang="en-US" sz="2700" dirty="0"/>
          </a:p>
        </p:txBody>
      </p:sp>
      <p:sp>
        <p:nvSpPr>
          <p:cNvPr id="7" name="Shape 4"/>
          <p:cNvSpPr/>
          <p:nvPr/>
        </p:nvSpPr>
        <p:spPr>
          <a:xfrm>
            <a:off x="457200" y="1092200"/>
            <a:ext cx="3937000" cy="1485900"/>
          </a:xfrm>
          <a:prstGeom prst="roundRect">
            <a:avLst>
              <a:gd name="adj" fmla="val 7692"/>
            </a:avLst>
          </a:prstGeom>
          <a:solidFill>
            <a:srgbClr val="F6F7F6"/>
          </a:solidFill>
          <a:ln/>
          <a:effectLst>
            <a:outerShdw blurRad="88900" dist="38100" dir="5400000" algn="bl" rotWithShape="0">
              <a:srgbClr val="1A2433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711200" y="1358900"/>
            <a:ext cx="368300" cy="368300"/>
          </a:xfrm>
          <a:prstGeom prst="ellipse">
            <a:avLst/>
          </a:prstGeom>
          <a:solidFill>
            <a:srgbClr val="0F6E56"/>
          </a:solidFill>
          <a:ln>
            <a:noFill/>
          </a:ln>
        </p:spPr>
        <p:txBody>
          <a:bodyPr wrap="none" anchor="ctr" anchorCtr="0">
            <a:noAutofit/>
          </a:bodyPr>
          <a:lstStyle/>
          <a:p>
            <a:r>
              <a:rPr lang="en-US" sz="1500" b="1">
                <a:solidFill>
                  <a:srgbClr val="FFFFFF"/>
                </a:solidFill>
                <a:latin typeface="Calibri"/>
                <a:cs typeface="Calibri"/>
              </a:rPr>
              <a:t>1</a:t>
            </a:r>
          </a:p>
        </p:txBody>
      </p:sp>
      <p:sp>
        <p:nvSpPr>
          <p:cNvPr id="10" name="Text 7"/>
          <p:cNvSpPr/>
          <p:nvPr/>
        </p:nvSpPr>
        <p:spPr>
          <a:xfrm>
            <a:off x="1206500" y="1320800"/>
            <a:ext cx="30226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formats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36600" y="1701800"/>
            <a:ext cx="34925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Allocare sends wide tab-delimited files; 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Julius Baer sends CSV, ISO 20022 XML, and zipped PDFs.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749800" y="1092200"/>
            <a:ext cx="3937000" cy="1485900"/>
          </a:xfrm>
          <a:prstGeom prst="roundRect">
            <a:avLst>
              <a:gd name="adj" fmla="val 7692"/>
            </a:avLst>
          </a:prstGeom>
          <a:solidFill>
            <a:srgbClr val="F6F7F6"/>
          </a:solidFill>
          <a:ln/>
          <a:effectLst>
            <a:outerShdw blurRad="88900" dist="38100" dir="5400000" algn="bl" rotWithShape="0">
              <a:srgbClr val="1A2433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5016500" y="1358900"/>
            <a:ext cx="368300" cy="368300"/>
          </a:xfrm>
          <a:prstGeom prst="ellipse">
            <a:avLst/>
          </a:prstGeom>
          <a:solidFill>
            <a:srgbClr val="0F6E56"/>
          </a:solidFill>
          <a:ln>
            <a:noFill/>
          </a:ln>
        </p:spPr>
        <p:txBody>
          <a:bodyPr wrap="none" anchor="ctr" anchorCtr="0">
            <a:noAutofit/>
          </a:bodyPr>
          <a:lstStyle/>
          <a:p>
            <a:r>
              <a:rPr lang="en-US" sz="1500" b="1">
                <a:solidFill>
                  <a:srgbClr val="FFFFFF"/>
                </a:solidFill>
                <a:latin typeface="Calibri"/>
                <a:cs typeface="Calibri"/>
              </a:rPr>
              <a:t>2</a:t>
            </a:r>
          </a:p>
        </p:txBody>
      </p:sp>
      <p:sp>
        <p:nvSpPr>
          <p:cNvPr id="15" name="Text 12"/>
          <p:cNvSpPr/>
          <p:nvPr/>
        </p:nvSpPr>
        <p:spPr>
          <a:xfrm>
            <a:off x="5499100" y="1320800"/>
            <a:ext cx="30226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schedules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5029200" y="1701800"/>
            <a:ext cx="34290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custodian delivers on its own calendar and cut-off, e.g. BJB is Tuesday trough Saturday.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57200" y="2794000"/>
            <a:ext cx="3937000" cy="1485900"/>
          </a:xfrm>
          <a:prstGeom prst="roundRect">
            <a:avLst>
              <a:gd name="adj" fmla="val 7692"/>
            </a:avLst>
          </a:prstGeom>
          <a:solidFill>
            <a:srgbClr val="F6F7F6"/>
          </a:solidFill>
          <a:ln/>
          <a:effectLst>
            <a:outerShdw blurRad="88900" dist="38100" dir="5400000" algn="bl" rotWithShape="0">
              <a:srgbClr val="1A2433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711200" y="3048000"/>
            <a:ext cx="368300" cy="368300"/>
          </a:xfrm>
          <a:prstGeom prst="ellipse">
            <a:avLst/>
          </a:prstGeom>
          <a:solidFill>
            <a:srgbClr val="0F6E56"/>
          </a:solidFill>
          <a:ln>
            <a:noFill/>
          </a:ln>
        </p:spPr>
        <p:txBody>
          <a:bodyPr wrap="none" anchor="ctr" anchorCtr="0">
            <a:noAutofit/>
          </a:bodyPr>
          <a:lstStyle/>
          <a:p>
            <a:r>
              <a:rPr lang="en-US" sz="1500" b="1">
                <a:solidFill>
                  <a:srgbClr val="FFFFFF"/>
                </a:solidFill>
                <a:latin typeface="Calibri"/>
                <a:cs typeface="Calibri"/>
              </a:rPr>
              <a:t>3</a:t>
            </a:r>
          </a:p>
        </p:txBody>
      </p:sp>
      <p:sp>
        <p:nvSpPr>
          <p:cNvPr id="20" name="Text 17"/>
          <p:cNvSpPr/>
          <p:nvPr/>
        </p:nvSpPr>
        <p:spPr>
          <a:xfrm>
            <a:off x="1206500" y="3009900"/>
            <a:ext cx="30226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shared key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736600" y="3467100"/>
            <a:ext cx="34290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security is a Valor at one bank and an ISIN at another;  the same client is a portfolio name vs an account number.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4749800" y="2794000"/>
            <a:ext cx="3937000" cy="1485900"/>
          </a:xfrm>
          <a:prstGeom prst="roundRect">
            <a:avLst>
              <a:gd name="adj" fmla="val 7692"/>
            </a:avLst>
          </a:prstGeom>
          <a:solidFill>
            <a:srgbClr val="F6F7F6"/>
          </a:solidFill>
          <a:ln/>
          <a:effectLst>
            <a:outerShdw blurRad="88900" dist="38100" dir="5400000" algn="bl" rotWithShape="0">
              <a:srgbClr val="1A2433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5016500" y="3048000"/>
            <a:ext cx="368300" cy="368300"/>
          </a:xfrm>
          <a:prstGeom prst="ellipse">
            <a:avLst/>
          </a:prstGeom>
          <a:solidFill>
            <a:srgbClr val="0F6E56"/>
          </a:solidFill>
          <a:ln>
            <a:noFill/>
          </a:ln>
        </p:spPr>
        <p:txBody>
          <a:bodyPr wrap="none" anchor="ctr" anchorCtr="0">
            <a:noAutofit/>
          </a:bodyPr>
          <a:lstStyle/>
          <a:p>
            <a:r>
              <a:rPr lang="en-US" sz="1500" b="1">
                <a:solidFill>
                  <a:srgbClr val="FFFFFF"/>
                </a:solidFill>
                <a:latin typeface="Calibri"/>
                <a:cs typeface="Calibri"/>
              </a:rPr>
              <a:t>4</a:t>
            </a:r>
          </a:p>
        </p:txBody>
      </p:sp>
      <p:sp>
        <p:nvSpPr>
          <p:cNvPr id="25" name="Text 22"/>
          <p:cNvSpPr/>
          <p:nvPr/>
        </p:nvSpPr>
        <p:spPr>
          <a:xfrm>
            <a:off x="5499100" y="3009900"/>
            <a:ext cx="30226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today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5029200" y="3416300"/>
            <a:ext cx="34290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Producing one cross-bank view of a client is slow, repetitive, and error-prone without automation.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493776" cy="493776"/>
          </a:xfrm>
          <a:prstGeom prst="ellipse">
            <a:avLst/>
          </a:prstGeom>
          <a:solidFill>
            <a:srgbClr val="0F6E5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25196"/>
            <a:ext cx="265176" cy="2651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274320"/>
            <a:ext cx="7589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097280" y="45720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we're building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457200" y="1097280"/>
            <a:ext cx="8229600" cy="1143000"/>
          </a:xfrm>
          <a:prstGeom prst="roundRect">
            <a:avLst>
              <a:gd name="adj" fmla="val 6400"/>
            </a:avLst>
          </a:prstGeom>
          <a:solidFill>
            <a:srgbClr val="E1F5EE"/>
          </a:solidFill>
          <a:ln/>
          <a:effectLst>
            <a:outerShdw blurRad="88900" dist="38100" dir="5400000" algn="bl" rotWithShape="0">
              <a:srgbClr val="1A2433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77240" y="1234440"/>
            <a:ext cx="7589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consolidation database that ingests both banks' feeds and produces a single, reconciled, cross-bank view per client.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548640" y="2551176"/>
            <a:ext cx="237744" cy="237744"/>
          </a:xfrm>
          <a:prstGeom prst="ellipse">
            <a:avLst/>
          </a:prstGeom>
          <a:solidFill>
            <a:srgbClr val="0F6E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960120" y="2450592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Allocare stays the source of record:</a:t>
            </a:r>
            <a:r>
              <a:rPr lang="en-US" sz="135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instrument and portfolio reference data. 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48640" y="3209544"/>
            <a:ext cx="237744" cy="237744"/>
          </a:xfrm>
          <a:prstGeom prst="ellipse">
            <a:avLst/>
          </a:prstGeom>
          <a:solidFill>
            <a:srgbClr val="0F6E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960120" y="310896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and consolidate, no write-back:</a:t>
            </a:r>
            <a:r>
              <a:rPr lang="en-US" sz="135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database consumes export data for reporting and reconciliation; it never forwards information to the banks.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548640" y="3867912"/>
            <a:ext cx="237744" cy="237744"/>
          </a:xfrm>
          <a:prstGeom prst="ellipse">
            <a:avLst/>
          </a:prstGeom>
          <a:solidFill>
            <a:srgbClr val="0F6E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960120" y="3767328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third bank is an adapter, not a redesign:</a:t>
            </a:r>
            <a:r>
              <a:rPr lang="en-US" sz="135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system is designed to be completely extensible: new banks do not modify the core.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493776" cy="493776"/>
          </a:xfrm>
          <a:prstGeom prst="ellipse">
            <a:avLst/>
          </a:prstGeom>
          <a:solidFill>
            <a:srgbClr val="0F6E5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25196"/>
            <a:ext cx="265176" cy="2651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274320"/>
            <a:ext cx="7589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097280" y="45720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sources at a glance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457200" y="1143000"/>
            <a:ext cx="3931920" cy="3246120"/>
          </a:xfrm>
          <a:prstGeom prst="roundRect">
            <a:avLst>
              <a:gd name="adj" fmla="val 1972"/>
            </a:avLst>
          </a:prstGeom>
          <a:solidFill>
            <a:srgbClr val="F6F7F6"/>
          </a:solidFill>
          <a:ln/>
          <a:effectLst>
            <a:outerShdw blurRad="88900" dist="38100" dir="5400000" algn="bl" rotWithShape="0">
              <a:srgbClr val="1A2433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31520" y="13258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Corner / Allocare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31520" y="16916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Allocare GDF — one integrated format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749808" y="2103120"/>
            <a:ext cx="33832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 tab-delimited files (P01, P11, P31, P73 …)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reference model: instruments, portfolios, transactions, positions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Identifiers: Valor, ISIN, and an internal ASSET key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754880" y="1143000"/>
            <a:ext cx="3931920" cy="3246120"/>
          </a:xfrm>
          <a:prstGeom prst="roundRect">
            <a:avLst>
              <a:gd name="adj" fmla="val 1972"/>
            </a:avLst>
          </a:prstGeom>
          <a:solidFill>
            <a:srgbClr val="F6F7F6"/>
          </a:solidFill>
          <a:ln/>
          <a:effectLst>
            <a:outerShdw blurRad="88900" dist="38100" dir="5400000" algn="bl" rotWithShape="0">
              <a:srgbClr val="1A2433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029200" y="13258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Julius Baer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5029200" y="16916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BJB DDS — three separate services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5047488" y="2103120"/>
            <a:ext cx="33832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positions &amp; transactions feed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camt.053 cash statements (ISO 20022 XML)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eDocs — zipped client PDFs + index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T-1, Tue–Sat, before 08:00 CET, over SFTP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57200" y="44988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2C5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identifier is shared between the two! Bridging them is the core of the design.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493776" cy="493776"/>
          </a:xfrm>
          <a:prstGeom prst="ellipse">
            <a:avLst/>
          </a:prstGeom>
          <a:solidFill>
            <a:srgbClr val="0F6E5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25196"/>
            <a:ext cx="265176" cy="2651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274320"/>
            <a:ext cx="7589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097280" y="45720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— four layers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1234440" y="1051560"/>
            <a:ext cx="2743200" cy="502920"/>
          </a:xfrm>
          <a:prstGeom prst="roundRect">
            <a:avLst>
              <a:gd name="adj" fmla="val 10909"/>
            </a:avLst>
          </a:prstGeom>
          <a:solidFill>
            <a:srgbClr val="EDECE6"/>
          </a:solidFill>
          <a:ln w="12700">
            <a:solidFill>
              <a:srgbClr val="C9C7BD"/>
            </a:solidFill>
            <a:prstDash val="solid"/>
          </a:ln>
          <a:effectLst>
            <a:outerShdw blurRad="88900" dist="38100" dir="5400000" algn="bl" rotWithShape="0">
              <a:srgbClr val="1A2433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1325880" y="10515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Corner / Allocare</a:t>
            </a:r>
            <a:endParaRPr lang="en-US" sz="12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0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GDF files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166360" y="1051560"/>
            <a:ext cx="2743200" cy="502920"/>
          </a:xfrm>
          <a:prstGeom prst="roundRect">
            <a:avLst>
              <a:gd name="adj" fmla="val 10909"/>
            </a:avLst>
          </a:prstGeom>
          <a:solidFill>
            <a:srgbClr val="EDECE6"/>
          </a:solidFill>
          <a:ln w="12700">
            <a:solidFill>
              <a:srgbClr val="C9C7BD"/>
            </a:solidFill>
            <a:prstDash val="solid"/>
          </a:ln>
          <a:effectLst>
            <a:outerShdw blurRad="88900" dist="38100" dir="5400000" algn="bl" rotWithShape="0">
              <a:srgbClr val="1A2433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257800" y="10515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Julius Baer</a:t>
            </a:r>
            <a:endParaRPr lang="en-US" sz="12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0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· camt.053 · eDocs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2606040" y="1554480"/>
            <a:ext cx="0" cy="228600"/>
          </a:xfrm>
          <a:prstGeom prst="line">
            <a:avLst/>
          </a:prstGeom>
          <a:noFill/>
          <a:ln w="19050">
            <a:solidFill>
              <a:srgbClr val="88878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6537960" y="1554480"/>
            <a:ext cx="0" cy="228600"/>
          </a:xfrm>
          <a:prstGeom prst="line">
            <a:avLst/>
          </a:prstGeom>
          <a:noFill/>
          <a:ln w="19050">
            <a:solidFill>
              <a:srgbClr val="88878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3931920" y="155448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SFTP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1234440" y="1783080"/>
            <a:ext cx="6675120" cy="548640"/>
          </a:xfrm>
          <a:prstGeom prst="roundRect">
            <a:avLst>
              <a:gd name="adj" fmla="val 10000"/>
            </a:avLst>
          </a:prstGeom>
          <a:solidFill>
            <a:srgbClr val="E1F5EE"/>
          </a:solidFill>
          <a:ln w="12700">
            <a:solidFill>
              <a:srgbClr val="1D9E75"/>
            </a:solidFill>
            <a:prstDash val="solid"/>
          </a:ln>
          <a:effectLst>
            <a:outerShdw blurRad="88900" dist="38100" dir="5400000" algn="bl" rotWithShape="0">
              <a:srgbClr val="1A2433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1325880" y="1783080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 — Ingestion</a:t>
            </a:r>
            <a:endParaRPr lang="en-US" sz="14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05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Fetch, land, and log files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4572000" y="2331720"/>
            <a:ext cx="0" cy="210312"/>
          </a:xfrm>
          <a:prstGeom prst="line">
            <a:avLst/>
          </a:prstGeom>
          <a:noFill/>
          <a:ln w="19050">
            <a:solidFill>
              <a:srgbClr val="88878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4754880" y="2331720"/>
            <a:ext cx="2926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+ audit log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1234440" y="2542032"/>
            <a:ext cx="6675120" cy="548640"/>
          </a:xfrm>
          <a:prstGeom prst="roundRect">
            <a:avLst>
              <a:gd name="adj" fmla="val 10000"/>
            </a:avLst>
          </a:prstGeom>
          <a:solidFill>
            <a:srgbClr val="E1F5EE"/>
          </a:solidFill>
          <a:ln w="12700">
            <a:solidFill>
              <a:srgbClr val="1D9E75"/>
            </a:solidFill>
            <a:prstDash val="solid"/>
          </a:ln>
          <a:effectLst>
            <a:outerShdw blurRad="88900" dist="38100" dir="5400000" algn="bl" rotWithShape="0">
              <a:srgbClr val="1A2433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1325880" y="2542032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 — Pipeline (Python)</a:t>
            </a:r>
            <a:endParaRPr lang="en-US" sz="14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05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adapter per bank format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4572000" y="3090672"/>
            <a:ext cx="0" cy="210312"/>
          </a:xfrm>
          <a:prstGeom prst="line">
            <a:avLst/>
          </a:prstGeom>
          <a:noFill/>
          <a:ln w="19050">
            <a:solidFill>
              <a:srgbClr val="88878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4754880" y="3090672"/>
            <a:ext cx="2926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conformed records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1234440" y="3300984"/>
            <a:ext cx="6675120" cy="548640"/>
          </a:xfrm>
          <a:prstGeom prst="roundRect">
            <a:avLst>
              <a:gd name="adj" fmla="val 10000"/>
            </a:avLst>
          </a:prstGeom>
          <a:solidFill>
            <a:srgbClr val="E1F5EE"/>
          </a:solidFill>
          <a:ln w="12700">
            <a:solidFill>
              <a:srgbClr val="1D9E75"/>
            </a:solidFill>
            <a:prstDash val="solid"/>
          </a:ln>
          <a:effectLst>
            <a:outerShdw blurRad="88900" dist="38100" dir="5400000" algn="bl" rotWithShape="0">
              <a:srgbClr val="1A2433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1325880" y="3300984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 — Core database</a:t>
            </a:r>
            <a:endParaRPr lang="en-US" sz="14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05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 · conformed core · crosswalks · lineage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4572000" y="3849624"/>
            <a:ext cx="0" cy="210312"/>
          </a:xfrm>
          <a:prstGeom prst="line">
            <a:avLst/>
          </a:prstGeom>
          <a:noFill/>
          <a:ln w="19050">
            <a:solidFill>
              <a:srgbClr val="88878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4754880" y="3849624"/>
            <a:ext cx="2926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views / API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1234440" y="4059936"/>
            <a:ext cx="6675120" cy="548640"/>
          </a:xfrm>
          <a:prstGeom prst="roundRect">
            <a:avLst>
              <a:gd name="adj" fmla="val 10000"/>
            </a:avLst>
          </a:prstGeom>
          <a:solidFill>
            <a:srgbClr val="E1F5EE"/>
          </a:solidFill>
          <a:ln w="12700">
            <a:solidFill>
              <a:srgbClr val="1D9E75"/>
            </a:solidFill>
            <a:prstDash val="solid"/>
          </a:ln>
          <a:effectLst>
            <a:outerShdw blurRad="88900" dist="38100" dir="5400000" algn="bl" rotWithShape="0">
              <a:srgbClr val="1A2433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1325880" y="4059936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4 — Applications</a:t>
            </a:r>
            <a:endParaRPr lang="en-US" sz="14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05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· analytics · compliance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493776" cy="493776"/>
          </a:xfrm>
          <a:prstGeom prst="ellipse">
            <a:avLst/>
          </a:prstGeom>
          <a:solidFill>
            <a:srgbClr val="0F6E5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25196"/>
            <a:ext cx="265176" cy="2651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274320"/>
            <a:ext cx="7589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EXTENSIBILITY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097280" y="45720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 — the adapter pattern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02920" y="1325880"/>
            <a:ext cx="1783080" cy="457200"/>
          </a:xfrm>
          <a:prstGeom prst="roundRect">
            <a:avLst>
              <a:gd name="adj" fmla="val 12000"/>
            </a:avLst>
          </a:prstGeom>
          <a:solidFill>
            <a:srgbClr val="EDECE6"/>
          </a:solidFill>
          <a:ln w="12700">
            <a:solidFill>
              <a:srgbClr val="C9C7BD"/>
            </a:solidFill>
            <a:prstDash val="solid"/>
          </a:ln>
          <a:effectLst>
            <a:outerShdw blurRad="88900" dist="38100" dir="5400000" algn="bl" rotWithShape="0">
              <a:srgbClr val="1A2433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94360" y="132588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Allocare GDF</a:t>
            </a:r>
            <a:endParaRPr lang="en-US" sz="1150" dirty="0"/>
          </a:p>
          <a:p>
            <a:pPr marL="0" indent="0" algn="ctr">
              <a:lnSpc>
                <a:spcPct val="95000"/>
              </a:lnSpc>
              <a:buNone/>
            </a:pP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2286000" y="1554480"/>
            <a:ext cx="411480" cy="0"/>
          </a:xfrm>
          <a:prstGeom prst="line">
            <a:avLst/>
          </a:prstGeom>
          <a:noFill/>
          <a:ln w="19050">
            <a:solidFill>
              <a:srgbClr val="88878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502920" y="1984248"/>
            <a:ext cx="1783080" cy="457200"/>
          </a:xfrm>
          <a:prstGeom prst="roundRect">
            <a:avLst>
              <a:gd name="adj" fmla="val 12000"/>
            </a:avLst>
          </a:prstGeom>
          <a:solidFill>
            <a:srgbClr val="EDECE6"/>
          </a:solidFill>
          <a:ln w="12700">
            <a:solidFill>
              <a:srgbClr val="C9C7BD"/>
            </a:solidFill>
            <a:prstDash val="solid"/>
          </a:ln>
          <a:effectLst>
            <a:outerShdw blurRad="88900" dist="38100" dir="5400000" algn="bl" rotWithShape="0">
              <a:srgbClr val="1A2433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94360" y="198424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BJB CSV</a:t>
            </a:r>
            <a:endParaRPr lang="en-US" sz="1150" dirty="0"/>
          </a:p>
          <a:p>
            <a:pPr marL="0" indent="0" algn="ctr">
              <a:lnSpc>
                <a:spcPct val="95000"/>
              </a:lnSpc>
              <a:buNone/>
            </a:pP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2286000" y="2212848"/>
            <a:ext cx="411480" cy="0"/>
          </a:xfrm>
          <a:prstGeom prst="line">
            <a:avLst/>
          </a:prstGeom>
          <a:noFill/>
          <a:ln w="19050">
            <a:solidFill>
              <a:srgbClr val="88878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502920" y="2642616"/>
            <a:ext cx="1783080" cy="457200"/>
          </a:xfrm>
          <a:prstGeom prst="roundRect">
            <a:avLst>
              <a:gd name="adj" fmla="val 12000"/>
            </a:avLst>
          </a:prstGeom>
          <a:solidFill>
            <a:srgbClr val="EDECE6"/>
          </a:solidFill>
          <a:ln w="12700">
            <a:solidFill>
              <a:srgbClr val="C9C7BD"/>
            </a:solidFill>
            <a:prstDash val="solid"/>
          </a:ln>
          <a:effectLst>
            <a:outerShdw blurRad="88900" dist="38100" dir="5400000" algn="bl" rotWithShape="0">
              <a:srgbClr val="1A2433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594360" y="2642616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camt.053 XML</a:t>
            </a:r>
            <a:endParaRPr lang="en-US" sz="1150" dirty="0"/>
          </a:p>
          <a:p>
            <a:pPr marL="0" indent="0" algn="ctr">
              <a:lnSpc>
                <a:spcPct val="95000"/>
              </a:lnSpc>
              <a:buNone/>
            </a:pP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2286000" y="2871216"/>
            <a:ext cx="411480" cy="0"/>
          </a:xfrm>
          <a:prstGeom prst="line">
            <a:avLst/>
          </a:prstGeom>
          <a:noFill/>
          <a:ln w="19050">
            <a:solidFill>
              <a:srgbClr val="88878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502920" y="3300984"/>
            <a:ext cx="1783080" cy="457200"/>
          </a:xfrm>
          <a:prstGeom prst="roundRect">
            <a:avLst>
              <a:gd name="adj" fmla="val 12000"/>
            </a:avLst>
          </a:prstGeom>
          <a:solidFill>
            <a:srgbClr val="EDECE6"/>
          </a:solidFill>
          <a:ln w="12700">
            <a:solidFill>
              <a:srgbClr val="C9C7BD"/>
            </a:solidFill>
            <a:prstDash val="solid"/>
          </a:ln>
          <a:effectLst>
            <a:outerShdw blurRad="88900" dist="38100" dir="5400000" algn="bl" rotWithShape="0">
              <a:srgbClr val="1A2433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594360" y="3300984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eDocs index</a:t>
            </a:r>
            <a:endParaRPr lang="en-US" sz="1150" dirty="0"/>
          </a:p>
          <a:p>
            <a:pPr marL="0" indent="0" algn="ctr">
              <a:lnSpc>
                <a:spcPct val="95000"/>
              </a:lnSpc>
              <a:buNone/>
            </a:pP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2286000" y="3529584"/>
            <a:ext cx="411480" cy="0"/>
          </a:xfrm>
          <a:prstGeom prst="line">
            <a:avLst/>
          </a:prstGeom>
          <a:noFill/>
          <a:ln w="19050">
            <a:solidFill>
              <a:srgbClr val="88878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2697480" y="1188720"/>
            <a:ext cx="1965960" cy="2788920"/>
          </a:xfrm>
          <a:prstGeom prst="roundRect">
            <a:avLst>
              <a:gd name="adj" fmla="val 3721"/>
            </a:avLst>
          </a:prstGeom>
          <a:solidFill>
            <a:srgbClr val="E1F5EE"/>
          </a:solidFill>
          <a:ln w="12700">
            <a:solidFill>
              <a:srgbClr val="1D9E75"/>
            </a:solidFill>
            <a:prstDash val="dash"/>
          </a:ln>
          <a:effectLst>
            <a:outerShdw blurRad="88900" dist="38100" dir="5400000" algn="bl" rotWithShape="0">
              <a:srgbClr val="1A2433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2697480" y="129844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Adapters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2697480" y="155448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per format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2880360" y="1874520"/>
            <a:ext cx="160020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1D9E75"/>
            </a:solidFill>
            <a:prstDash val="solid"/>
          </a:ln>
          <a:effectLst>
            <a:outerShdw blurRad="88900" dist="38100" dir="5400000" algn="bl" rotWithShape="0">
              <a:srgbClr val="1A2433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2971800" y="187452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Parser 1</a:t>
            </a:r>
            <a:endParaRPr lang="en-US" sz="1100" dirty="0"/>
          </a:p>
          <a:p>
            <a:pPr marL="0" indent="0" algn="ctr">
              <a:lnSpc>
                <a:spcPct val="95000"/>
              </a:lnSpc>
              <a:buNone/>
            </a:pP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2880360" y="2377440"/>
            <a:ext cx="160020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1D9E75"/>
            </a:solidFill>
            <a:prstDash val="solid"/>
          </a:ln>
          <a:effectLst>
            <a:outerShdw blurRad="88900" dist="38100" dir="5400000" algn="bl" rotWithShape="0">
              <a:srgbClr val="1A2433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2971800" y="237744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Parser 2</a:t>
            </a:r>
            <a:endParaRPr lang="en-US" sz="1100" dirty="0"/>
          </a:p>
          <a:p>
            <a:pPr marL="0" indent="0" algn="ctr">
              <a:lnSpc>
                <a:spcPct val="95000"/>
              </a:lnSpc>
              <a:buNone/>
            </a:pP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2880360" y="2880360"/>
            <a:ext cx="160020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1D9E75"/>
            </a:solidFill>
            <a:prstDash val="solid"/>
          </a:ln>
          <a:effectLst>
            <a:outerShdw blurRad="88900" dist="38100" dir="5400000" algn="bl" rotWithShape="0">
              <a:srgbClr val="1A2433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2971800" y="288036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Parser 3</a:t>
            </a:r>
            <a:endParaRPr lang="en-US" sz="1100" dirty="0"/>
          </a:p>
          <a:p>
            <a:pPr marL="0" indent="0" algn="ctr">
              <a:lnSpc>
                <a:spcPct val="95000"/>
              </a:lnSpc>
              <a:buNone/>
            </a:pP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2880360" y="3383280"/>
            <a:ext cx="160020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1D9E75"/>
            </a:solidFill>
            <a:prstDash val="solid"/>
          </a:ln>
          <a:effectLst>
            <a:outerShdw blurRad="88900" dist="38100" dir="5400000" algn="bl" rotWithShape="0">
              <a:srgbClr val="1A2433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2971800" y="338328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Parser 4</a:t>
            </a:r>
            <a:endParaRPr lang="en-US" sz="1100" dirty="0"/>
          </a:p>
          <a:p>
            <a:pPr marL="0" indent="0" algn="ctr">
              <a:lnSpc>
                <a:spcPct val="95000"/>
              </a:lnSpc>
              <a:buNone/>
            </a:pP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663440" y="2606040"/>
            <a:ext cx="365760" cy="0"/>
          </a:xfrm>
          <a:prstGeom prst="line">
            <a:avLst/>
          </a:prstGeom>
          <a:noFill/>
          <a:ln w="19050">
            <a:solidFill>
              <a:srgbClr val="88878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>
            <a:off x="5029200" y="1188720"/>
            <a:ext cx="2194560" cy="2788920"/>
          </a:xfrm>
          <a:prstGeom prst="roundRect">
            <a:avLst>
              <a:gd name="adj" fmla="val 3333"/>
            </a:avLst>
          </a:prstGeom>
          <a:solidFill>
            <a:srgbClr val="F6F7F6"/>
          </a:solidFill>
          <a:ln/>
          <a:effectLst>
            <a:outerShdw blurRad="88900" dist="38100" dir="5400000" algn="bl" rotWithShape="0">
              <a:srgbClr val="1A2433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5029200" y="129844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pipeline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5029200" y="155448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once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5212080" y="1874520"/>
            <a:ext cx="1828800" cy="475488"/>
          </a:xfrm>
          <a:prstGeom prst="roundRect">
            <a:avLst>
              <a:gd name="adj" fmla="val 11538"/>
            </a:avLst>
          </a:prstGeom>
          <a:solidFill>
            <a:srgbClr val="E1F5EE"/>
          </a:solidFill>
          <a:ln w="12700">
            <a:solidFill>
              <a:srgbClr val="1D9E75"/>
            </a:solidFill>
            <a:prstDash val="solid"/>
          </a:ln>
          <a:effectLst>
            <a:outerShdw blurRad="88900" dist="38100" dir="5400000" algn="bl" rotWithShape="0">
              <a:srgbClr val="1A2433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5303520" y="1874520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</a:t>
            </a:r>
            <a:endParaRPr lang="en-US" sz="1250" dirty="0"/>
          </a:p>
          <a:p>
            <a:pPr marL="0" indent="0" algn="ctr">
              <a:lnSpc>
                <a:spcPct val="95000"/>
              </a:lnSpc>
              <a:buNone/>
            </a:pPr>
            <a:endParaRPr lang="en-US" sz="1250" dirty="0"/>
          </a:p>
        </p:txBody>
      </p:sp>
      <p:sp>
        <p:nvSpPr>
          <p:cNvPr id="35" name="Shape 32"/>
          <p:cNvSpPr/>
          <p:nvPr/>
        </p:nvSpPr>
        <p:spPr>
          <a:xfrm>
            <a:off x="5212080" y="2468880"/>
            <a:ext cx="1828800" cy="475488"/>
          </a:xfrm>
          <a:prstGeom prst="roundRect">
            <a:avLst>
              <a:gd name="adj" fmla="val 11538"/>
            </a:avLst>
          </a:prstGeom>
          <a:solidFill>
            <a:srgbClr val="E1F5EE"/>
          </a:solidFill>
          <a:ln w="12700">
            <a:solidFill>
              <a:srgbClr val="1D9E75"/>
            </a:solidFill>
            <a:prstDash val="solid"/>
          </a:ln>
          <a:effectLst>
            <a:outerShdw blurRad="88900" dist="38100" dir="5400000" algn="bl" rotWithShape="0">
              <a:srgbClr val="1A2433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/>
          <p:nvPr/>
        </p:nvSpPr>
        <p:spPr>
          <a:xfrm>
            <a:off x="5303520" y="2468880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250" dirty="0"/>
          </a:p>
          <a:p>
            <a:pPr marL="0" indent="0" algn="ctr">
              <a:lnSpc>
                <a:spcPct val="95000"/>
              </a:lnSpc>
              <a:buNone/>
            </a:pPr>
            <a:endParaRPr lang="en-US" sz="1250" dirty="0"/>
          </a:p>
        </p:txBody>
      </p:sp>
      <p:sp>
        <p:nvSpPr>
          <p:cNvPr id="37" name="Shape 34"/>
          <p:cNvSpPr/>
          <p:nvPr/>
        </p:nvSpPr>
        <p:spPr>
          <a:xfrm>
            <a:off x="5212080" y="3063240"/>
            <a:ext cx="1828800" cy="475488"/>
          </a:xfrm>
          <a:prstGeom prst="roundRect">
            <a:avLst>
              <a:gd name="adj" fmla="val 11538"/>
            </a:avLst>
          </a:prstGeom>
          <a:solidFill>
            <a:srgbClr val="E1F5EE"/>
          </a:solidFill>
          <a:ln w="12700">
            <a:solidFill>
              <a:srgbClr val="1D9E75"/>
            </a:solidFill>
            <a:prstDash val="solid"/>
          </a:ln>
          <a:effectLst>
            <a:outerShdw blurRad="88900" dist="38100" dir="5400000" algn="bl" rotWithShape="0">
              <a:srgbClr val="1A2433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5303520" y="3063240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</a:t>
            </a:r>
            <a:endParaRPr lang="en-US" sz="1250" dirty="0"/>
          </a:p>
          <a:p>
            <a:pPr marL="0" indent="0" algn="ctr">
              <a:lnSpc>
                <a:spcPct val="95000"/>
              </a:lnSpc>
              <a:buNone/>
            </a:pPr>
            <a:endParaRPr lang="en-US" sz="1250" dirty="0"/>
          </a:p>
        </p:txBody>
      </p:sp>
      <p:sp>
        <p:nvSpPr>
          <p:cNvPr id="39" name="Shape 36"/>
          <p:cNvSpPr/>
          <p:nvPr/>
        </p:nvSpPr>
        <p:spPr>
          <a:xfrm>
            <a:off x="7223760" y="2606040"/>
            <a:ext cx="411480" cy="0"/>
          </a:xfrm>
          <a:prstGeom prst="line">
            <a:avLst/>
          </a:prstGeom>
          <a:noFill/>
          <a:ln w="19050">
            <a:solidFill>
              <a:srgbClr val="88878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7"/>
          <p:cNvSpPr/>
          <p:nvPr/>
        </p:nvSpPr>
        <p:spPr>
          <a:xfrm>
            <a:off x="7635240" y="2148840"/>
            <a:ext cx="1005840" cy="914400"/>
          </a:xfrm>
          <a:prstGeom prst="roundRect">
            <a:avLst>
              <a:gd name="adj" fmla="val 8000"/>
            </a:avLst>
          </a:prstGeom>
          <a:solidFill>
            <a:srgbClr val="0F6E56"/>
          </a:solidFill>
          <a:ln/>
          <a:effectLst>
            <a:outerShdw blurRad="88900" dist="38100" dir="5400000" algn="bl" rotWithShape="0">
              <a:srgbClr val="1A2433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Text 38"/>
          <p:cNvSpPr/>
          <p:nvPr/>
        </p:nvSpPr>
        <p:spPr>
          <a:xfrm>
            <a:off x="7635240" y="2148840"/>
            <a:ext cx="1005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200" dirty="0"/>
          </a:p>
        </p:txBody>
      </p:sp>
      <p:sp>
        <p:nvSpPr>
          <p:cNvPr id="42" name="Text 39"/>
          <p:cNvSpPr/>
          <p:nvPr/>
        </p:nvSpPr>
        <p:spPr>
          <a:xfrm>
            <a:off x="457200" y="4206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a bank = one new parser. Transform, validate, and load never change -&gt; extensibility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493776" cy="493776"/>
          </a:xfrm>
          <a:prstGeom prst="ellipse">
            <a:avLst/>
          </a:prstGeom>
          <a:solidFill>
            <a:srgbClr val="0F6E5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25196"/>
            <a:ext cx="265176" cy="2651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274320"/>
            <a:ext cx="7589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SCHEMA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097280" y="45720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 — the unified core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457200" y="10241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schema of tables, organised in three bands. Every record is tagged with its source and traceable to the file it came from.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40080" y="1600200"/>
            <a:ext cx="7863840" cy="868680"/>
          </a:xfrm>
          <a:prstGeom prst="roundRect">
            <a:avLst>
              <a:gd name="adj" fmla="val 7368"/>
            </a:avLst>
          </a:prstGeom>
          <a:solidFill>
            <a:srgbClr val="F6F7F6"/>
          </a:solidFill>
          <a:ln w="12700">
            <a:solidFill>
              <a:srgbClr val="C9C7BD"/>
            </a:solidFill>
            <a:prstDash val="solid"/>
          </a:ln>
          <a:effectLst>
            <a:outerShdw blurRad="88900" dist="38100" dir="5400000" algn="bl" rotWithShape="0">
              <a:srgbClr val="1A2433">
                <a:alpha val="13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914400" y="1728216"/>
            <a:ext cx="27432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 band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3657600" y="1691640"/>
            <a:ext cx="4617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feed kept raw, exactly as delivered, an exact record of what arrived. Especially useful for initial development, but also fundamental in case of unhandled errors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40080" y="2578608"/>
            <a:ext cx="7863840" cy="868680"/>
          </a:xfrm>
          <a:prstGeom prst="roundRect">
            <a:avLst>
              <a:gd name="adj" fmla="val 7368"/>
            </a:avLst>
          </a:prstGeom>
          <a:solidFill>
            <a:srgbClr val="E1F5EE"/>
          </a:solidFill>
          <a:ln w="12700">
            <a:solidFill>
              <a:srgbClr val="1D9E75"/>
            </a:solidFill>
            <a:prstDash val="solid"/>
          </a:ln>
          <a:effectLst>
            <a:outerShdw blurRad="88900" dist="38100" dir="5400000" algn="bl" rotWithShape="0">
              <a:srgbClr val="1A2433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914400" y="2706624"/>
            <a:ext cx="27432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core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3657600" y="2670048"/>
            <a:ext cx="4617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Instruments · portfolios &amp; accounts · transactions &amp; movements · positions · cash · legal &amp; other documents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40080" y="3557016"/>
            <a:ext cx="7863840" cy="868680"/>
          </a:xfrm>
          <a:prstGeom prst="roundRect">
            <a:avLst>
              <a:gd name="adj" fmla="val 7368"/>
            </a:avLst>
          </a:prstGeom>
          <a:solidFill>
            <a:srgbClr val="EAF0F4"/>
          </a:solidFill>
          <a:ln w="12700">
            <a:solidFill>
              <a:srgbClr val="A9C4D4"/>
            </a:solidFill>
            <a:prstDash val="solid"/>
          </a:ln>
          <a:effectLst>
            <a:outerShdw blurRad="88900" dist="38100" dir="5400000" algn="bl" rotWithShape="0">
              <a:srgbClr val="1A2433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914400" y="3685032"/>
            <a:ext cx="27432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F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Cross-cutting band</a:t>
            </a:r>
            <a:endParaRPr lang="en-US" sz="1550" dirty="0"/>
          </a:p>
        </p:txBody>
      </p:sp>
      <p:sp>
        <p:nvSpPr>
          <p:cNvPr id="15" name="Text 12"/>
          <p:cNvSpPr/>
          <p:nvPr/>
        </p:nvSpPr>
        <p:spPr>
          <a:xfrm>
            <a:off x="3657600" y="3648456"/>
            <a:ext cx="4617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crosswalks · code dictionary · reconciliation · lineage: what makes two banks behave as one.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493776" cy="493776"/>
          </a:xfrm>
          <a:prstGeom prst="ellipse">
            <a:avLst/>
          </a:prstGeom>
          <a:solidFill>
            <a:srgbClr val="0F6E5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25196"/>
            <a:ext cx="265176" cy="2651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274320"/>
            <a:ext cx="7589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RATIONALE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097280" y="45720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design decisions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457200" y="1097280"/>
            <a:ext cx="3931920" cy="1481328"/>
          </a:xfrm>
          <a:prstGeom prst="roundRect">
            <a:avLst>
              <a:gd name="adj" fmla="val 4321"/>
            </a:avLst>
          </a:prstGeom>
          <a:solidFill>
            <a:srgbClr val="F6F7F6"/>
          </a:solidFill>
          <a:ln/>
          <a:effectLst>
            <a:outerShdw blurRad="88900" dist="38100" dir="5400000" algn="bl" rotWithShape="0">
              <a:srgbClr val="1A2433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713232" y="1353312"/>
            <a:ext cx="365760" cy="365760"/>
          </a:xfrm>
          <a:prstGeom prst="ellipse">
            <a:avLst/>
          </a:prstGeom>
          <a:solidFill>
            <a:srgbClr val="0F6E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713232" y="13533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207008" y="1316736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Positions as snapshots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31520" y="1773936"/>
            <a:ext cx="3429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the custodian's official figures; reconcile against transaction history as a control rather than recomputing them.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754880" y="1097280"/>
            <a:ext cx="3931920" cy="1481328"/>
          </a:xfrm>
          <a:prstGeom prst="roundRect">
            <a:avLst>
              <a:gd name="adj" fmla="val 4321"/>
            </a:avLst>
          </a:prstGeom>
          <a:solidFill>
            <a:srgbClr val="F6F7F6"/>
          </a:solidFill>
          <a:ln/>
          <a:effectLst>
            <a:outerShdw blurRad="88900" dist="38100" dir="5400000" algn="bl" rotWithShape="0">
              <a:srgbClr val="1A2433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5010912" y="1353312"/>
            <a:ext cx="365760" cy="365760"/>
          </a:xfrm>
          <a:prstGeom prst="ellipse">
            <a:avLst/>
          </a:prstGeom>
          <a:solidFill>
            <a:srgbClr val="0F6E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5010912" y="13533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5504688" y="1316736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is first-class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5029200" y="1773936"/>
            <a:ext cx="3429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schema, every row tagged by bank. A third custodian adds rows, not parallel tables.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457200" y="2788920"/>
            <a:ext cx="3931920" cy="1481328"/>
          </a:xfrm>
          <a:prstGeom prst="roundRect">
            <a:avLst>
              <a:gd name="adj" fmla="val 4321"/>
            </a:avLst>
          </a:prstGeom>
          <a:solidFill>
            <a:srgbClr val="F6F7F6"/>
          </a:solidFill>
          <a:ln/>
          <a:effectLst>
            <a:outerShdw blurRad="88900" dist="38100" dir="5400000" algn="bl" rotWithShape="0">
              <a:srgbClr val="1A2433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713232" y="3044952"/>
            <a:ext cx="365760" cy="365760"/>
          </a:xfrm>
          <a:prstGeom prst="ellipse">
            <a:avLst/>
          </a:prstGeom>
          <a:solidFill>
            <a:srgbClr val="0F6E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713232" y="30449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207008" y="3008376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identities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731520" y="3465576"/>
            <a:ext cx="3429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D3D3A"/>
                </a:solidFill>
                <a:latin typeface="Calibri" pitchFamily="34" charset="0"/>
                <a:cs typeface="Calibri" pitchFamily="34" charset="-120"/>
              </a:rPr>
              <a:t>Different banks may have different identifiers for the same financial objects: match these based on ISIN, if not available throw exception to be handled manually.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4754880" y="2788920"/>
            <a:ext cx="3931920" cy="1481328"/>
          </a:xfrm>
          <a:prstGeom prst="roundRect">
            <a:avLst>
              <a:gd name="adj" fmla="val 4321"/>
            </a:avLst>
          </a:prstGeom>
          <a:solidFill>
            <a:srgbClr val="F6F7F6"/>
          </a:solidFill>
          <a:ln/>
          <a:effectLst>
            <a:outerShdw blurRad="88900" dist="38100" dir="5400000" algn="bl" rotWithShape="0">
              <a:srgbClr val="1A2433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5010912" y="3044952"/>
            <a:ext cx="365760" cy="365760"/>
          </a:xfrm>
          <a:prstGeom prst="ellipse">
            <a:avLst/>
          </a:prstGeom>
          <a:solidFill>
            <a:srgbClr val="0F6E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5010912" y="30449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5504688" y="3008376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kept separate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5029200" y="3465576"/>
            <a:ext cx="3429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(camt) and securities stay distinct, especially important for BJB.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493776" cy="493776"/>
          </a:xfrm>
          <a:prstGeom prst="ellipse">
            <a:avLst/>
          </a:prstGeom>
          <a:solidFill>
            <a:srgbClr val="0F6E5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25196"/>
            <a:ext cx="265176" cy="2651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274320"/>
            <a:ext cx="7589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PHASES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097280" y="45720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roadmap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1188720" y="1691640"/>
            <a:ext cx="6949440" cy="0"/>
          </a:xfrm>
          <a:prstGeom prst="line">
            <a:avLst/>
          </a:prstGeom>
          <a:noFill/>
          <a:ln w="19050">
            <a:solidFill>
              <a:srgbClr val="1D9E75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457200" y="1417320"/>
            <a:ext cx="1463040" cy="2468880"/>
          </a:xfrm>
          <a:prstGeom prst="roundRect">
            <a:avLst>
              <a:gd name="adj" fmla="val 5000"/>
            </a:avLst>
          </a:prstGeom>
          <a:solidFill>
            <a:srgbClr val="F6F7F6"/>
          </a:solidFill>
          <a:ln/>
          <a:effectLst>
            <a:outerShdw blurRad="88900" dist="38100" dir="5400000" algn="bl" rotWithShape="0">
              <a:srgbClr val="1A2433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932688" y="1161288"/>
            <a:ext cx="512064" cy="512064"/>
          </a:xfrm>
          <a:prstGeom prst="ellipse">
            <a:avLst/>
          </a:prstGeom>
          <a:solidFill>
            <a:srgbClr val="0F6E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932688" y="11612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548640" y="1801368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566928" y="2331720"/>
            <a:ext cx="124358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+ Allocare GDF ingestion, end to end.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548640" y="350215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i="1" dirty="0">
                <a:solidFill>
                  <a:srgbClr val="2C5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3–4 wks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2194560" y="1417320"/>
            <a:ext cx="1463040" cy="2468880"/>
          </a:xfrm>
          <a:prstGeom prst="roundRect">
            <a:avLst>
              <a:gd name="adj" fmla="val 5000"/>
            </a:avLst>
          </a:prstGeom>
          <a:solidFill>
            <a:srgbClr val="E1F5EE"/>
          </a:solidFill>
          <a:ln/>
          <a:effectLst>
            <a:outerShdw blurRad="88900" dist="38100" dir="5400000" algn="bl" rotWithShape="0">
              <a:srgbClr val="1A2433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2670048" y="1161288"/>
            <a:ext cx="512064" cy="512064"/>
          </a:xfrm>
          <a:prstGeom prst="ellipse">
            <a:avLst/>
          </a:prstGeom>
          <a:solidFill>
            <a:srgbClr val="0F6E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2670048" y="11612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900" dirty="0"/>
          </a:p>
        </p:txBody>
      </p:sp>
      <p:sp>
        <p:nvSpPr>
          <p:cNvPr id="16" name="Text 13"/>
          <p:cNvSpPr/>
          <p:nvPr/>
        </p:nvSpPr>
        <p:spPr>
          <a:xfrm>
            <a:off x="2286000" y="1801368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bank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2304288" y="2331720"/>
            <a:ext cx="124358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BJB feeds, identity crosswalk, reconciliation.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2286000" y="350215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i="1" dirty="0">
                <a:solidFill>
                  <a:srgbClr val="2C5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2 -3 wks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3931920" y="1417320"/>
            <a:ext cx="1463040" cy="2468880"/>
          </a:xfrm>
          <a:prstGeom prst="roundRect">
            <a:avLst>
              <a:gd name="adj" fmla="val 5000"/>
            </a:avLst>
          </a:prstGeom>
          <a:solidFill>
            <a:srgbClr val="F6F7F6"/>
          </a:solidFill>
          <a:ln/>
          <a:effectLst>
            <a:outerShdw blurRad="88900" dist="38100" dir="5400000" algn="bl" rotWithShape="0">
              <a:srgbClr val="1A2433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4407408" y="1161288"/>
            <a:ext cx="512064" cy="512064"/>
          </a:xfrm>
          <a:prstGeom prst="ellipse">
            <a:avLst/>
          </a:prstGeom>
          <a:solidFill>
            <a:srgbClr val="0F6E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4407408" y="11612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900" dirty="0"/>
          </a:p>
        </p:txBody>
      </p:sp>
      <p:sp>
        <p:nvSpPr>
          <p:cNvPr id="22" name="Text 19"/>
          <p:cNvSpPr/>
          <p:nvPr/>
        </p:nvSpPr>
        <p:spPr>
          <a:xfrm>
            <a:off x="4023360" y="1801368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Hardening</a:t>
            </a:r>
            <a:endParaRPr lang="en-US" sz="1350" dirty="0"/>
          </a:p>
        </p:txBody>
      </p:sp>
      <p:sp>
        <p:nvSpPr>
          <p:cNvPr id="23" name="Text 20"/>
          <p:cNvSpPr/>
          <p:nvPr/>
        </p:nvSpPr>
        <p:spPr>
          <a:xfrm>
            <a:off x="4041648" y="2331720"/>
            <a:ext cx="124358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handling, monitoring, alerting, reprocessing.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4023360" y="350215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i="1" dirty="0">
                <a:solidFill>
                  <a:srgbClr val="2C5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wks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669280" y="1417320"/>
            <a:ext cx="1463040" cy="2468880"/>
          </a:xfrm>
          <a:prstGeom prst="roundRect">
            <a:avLst>
              <a:gd name="adj" fmla="val 5000"/>
            </a:avLst>
          </a:prstGeom>
          <a:solidFill>
            <a:srgbClr val="F6F7F6"/>
          </a:solidFill>
          <a:ln/>
          <a:effectLst>
            <a:outerShdw blurRad="88900" dist="38100" dir="5400000" algn="bl" rotWithShape="0">
              <a:srgbClr val="1A2433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6144768" y="1161288"/>
            <a:ext cx="512064" cy="512064"/>
          </a:xfrm>
          <a:prstGeom prst="ellipse">
            <a:avLst/>
          </a:prstGeom>
          <a:solidFill>
            <a:srgbClr val="0F6E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6144768" y="11612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900" dirty="0"/>
          </a:p>
        </p:txBody>
      </p:sp>
      <p:sp>
        <p:nvSpPr>
          <p:cNvPr id="28" name="Text 25"/>
          <p:cNvSpPr/>
          <p:nvPr/>
        </p:nvSpPr>
        <p:spPr>
          <a:xfrm>
            <a:off x="5760720" y="1801368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1350" dirty="0"/>
          </a:p>
        </p:txBody>
      </p:sp>
      <p:sp>
        <p:nvSpPr>
          <p:cNvPr id="29" name="Text 26"/>
          <p:cNvSpPr/>
          <p:nvPr/>
        </p:nvSpPr>
        <p:spPr>
          <a:xfrm>
            <a:off x="5779008" y="2331720"/>
            <a:ext cx="124358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</a:t>
            </a:r>
          </a:p>
          <a:p>
            <a:pPr marL="0" indent="0" algn="ctr">
              <a:buNone/>
            </a:pPr>
            <a:r>
              <a:rPr lang="en-US" sz="105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</a:t>
            </a:r>
          </a:p>
          <a:p>
            <a:pPr marL="0" indent="0" algn="ctr">
              <a:buNone/>
            </a:pPr>
            <a:r>
              <a:rPr lang="en-US" sz="105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5760720" y="350215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i="1" dirty="0">
                <a:solidFill>
                  <a:srgbClr val="2C5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7406640" y="1417320"/>
            <a:ext cx="1463040" cy="2468880"/>
          </a:xfrm>
          <a:prstGeom prst="roundRect">
            <a:avLst>
              <a:gd name="adj" fmla="val 5000"/>
            </a:avLst>
          </a:prstGeom>
          <a:solidFill>
            <a:srgbClr val="F6F7F6"/>
          </a:solidFill>
          <a:ln/>
          <a:effectLst>
            <a:outerShdw blurRad="88900" dist="38100" dir="5400000" algn="bl" rotWithShape="0">
              <a:srgbClr val="1A2433">
                <a:alpha val="13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32" name="Shape 29"/>
          <p:cNvSpPr/>
          <p:nvPr/>
        </p:nvSpPr>
        <p:spPr>
          <a:xfrm>
            <a:off x="7882128" y="1161288"/>
            <a:ext cx="512064" cy="512064"/>
          </a:xfrm>
          <a:prstGeom prst="ellipse">
            <a:avLst/>
          </a:prstGeom>
          <a:solidFill>
            <a:srgbClr val="0F6E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7882128" y="11612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900" dirty="0"/>
          </a:p>
        </p:txBody>
      </p:sp>
      <p:sp>
        <p:nvSpPr>
          <p:cNvPr id="34" name="Text 31"/>
          <p:cNvSpPr/>
          <p:nvPr/>
        </p:nvSpPr>
        <p:spPr>
          <a:xfrm>
            <a:off x="7498080" y="1801368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Extensibility</a:t>
            </a:r>
            <a:endParaRPr lang="en-US" sz="1350" dirty="0"/>
          </a:p>
        </p:txBody>
      </p:sp>
      <p:sp>
        <p:nvSpPr>
          <p:cNvPr id="35" name="Text 32"/>
          <p:cNvSpPr/>
          <p:nvPr/>
        </p:nvSpPr>
        <p:spPr>
          <a:xfrm>
            <a:off x="7516368" y="2331720"/>
            <a:ext cx="124358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D3D3A"/>
                </a:solidFill>
                <a:latin typeface="Calibri" pitchFamily="34" charset="0"/>
                <a:cs typeface="Calibri" pitchFamily="34" charset="-120"/>
              </a:rPr>
              <a:t>More banks.</a:t>
            </a:r>
            <a:endParaRPr lang="en-US" sz="1050" dirty="0"/>
          </a:p>
        </p:txBody>
      </p:sp>
      <p:sp>
        <p:nvSpPr>
          <p:cNvPr id="36" name="Text 33"/>
          <p:cNvSpPr/>
          <p:nvPr/>
        </p:nvSpPr>
        <p:spPr>
          <a:xfrm>
            <a:off x="7498080" y="350215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i="1" dirty="0">
                <a:solidFill>
                  <a:srgbClr val="2C5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457200" y="44988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Indicative time-table</a:t>
            </a:r>
          </a:p>
          <a:p>
            <a:pPr marL="0" indent="0" algn="ctr">
              <a:buNone/>
            </a:pPr>
            <a:r>
              <a:rPr lang="en-US" sz="11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Phase 2 depends on the answers to the assumption model!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493776" cy="493776"/>
          </a:xfrm>
          <a:prstGeom prst="ellipse">
            <a:avLst/>
          </a:prstGeom>
          <a:solidFill>
            <a:srgbClr val="0F6E5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25196"/>
            <a:ext cx="265176" cy="2651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274320"/>
            <a:ext cx="7589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QUESTIONS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097280" y="45720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Assumptions to be confirmed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457200" y="1417320"/>
            <a:ext cx="8229600" cy="841248"/>
          </a:xfrm>
          <a:prstGeom prst="roundRect">
            <a:avLst>
              <a:gd name="adj" fmla="val 7609"/>
            </a:avLst>
          </a:prstGeom>
          <a:solidFill>
            <a:srgbClr val="F6F7F6"/>
          </a:solidFill>
          <a:ln/>
          <a:effectLst>
            <a:outerShdw blurRad="88900" dist="38100" dir="5400000" algn="bl" rotWithShape="0">
              <a:srgbClr val="1A2433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4008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234440" y="1536192"/>
            <a:ext cx="2194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3474720" y="1490472"/>
            <a:ext cx="4572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Julius Baer data arrive directly, or flow into Allocare first and reach us as GDF? The design assumes the direct case, if it flows through Allocare, Phase 2 shrinks substantially.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57200" y="2350008"/>
            <a:ext cx="8229600" cy="841248"/>
          </a:xfrm>
          <a:prstGeom prst="roundRect">
            <a:avLst>
              <a:gd name="adj" fmla="val 7609"/>
            </a:avLst>
          </a:prstGeom>
          <a:solidFill>
            <a:srgbClr val="F6F7F6"/>
          </a:solidFill>
          <a:ln/>
          <a:effectLst>
            <a:outerShdw blurRad="88900" dist="38100" dir="5400000" algn="bl" rotWithShape="0">
              <a:srgbClr val="1A2433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40080" y="2532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234440" y="2468880"/>
            <a:ext cx="2194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BJB feed layout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3474720" y="2423160"/>
            <a:ext cx="4572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exact column layout of the BJB positions/transactions CSV is not yet in hand. 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40080" y="31912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53DFD7F9-AC8E-B540-930A-A266C63EADC7}">
  <we:reference id="wa200010001" version="1.0.0.1" store="en-US" storeType="OMEX"/>
  <we:alternateReferences>
    <we:reference id="WA200010001" version="1.0.0.1" store="WA200010001" storeType="OMEX"/>
  </we:alternateReferences>
  <we:properties>
    <we:property name="claude.fileId" value="&quot;d6c7899e-5493-4f47-837a-0f5bb5d64efb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147</TotalTime>
  <Words>1124</Words>
  <Application>Microsoft Macintosh PowerPoint</Application>
  <PresentationFormat>On-screen Show (16:9)</PresentationFormat>
  <Paragraphs>154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Multi-Custodian Consolidation Database</dc:title>
  <dc:subject>PptxGenJS Presentation</dc:subject>
  <dc:creator>Edoardo Pierluigi Leali</dc:creator>
  <cp:lastModifiedBy>Leali Edoardo Pierluigi</cp:lastModifiedBy>
  <cp:revision>3</cp:revision>
  <dcterms:created xsi:type="dcterms:W3CDTF">2026-06-24T08:26:41Z</dcterms:created>
  <dcterms:modified xsi:type="dcterms:W3CDTF">2026-06-24T13:36:56Z</dcterms:modified>
</cp:coreProperties>
</file>